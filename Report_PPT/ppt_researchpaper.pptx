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9" r:id="rId7"/>
    <p:sldId id="270" r:id="rId8"/>
    <p:sldId id="271" r:id="rId9"/>
    <p:sldId id="275" r:id="rId10"/>
    <p:sldId id="273" r:id="rId11"/>
    <p:sldId id="274" r:id="rId12"/>
    <p:sldId id="272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-989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xmlns="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 cstate="print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 cstate="print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 cstate="print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 cstate="print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 cstate="print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 cstate="print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 cstate="print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Proactive Prediction of UPI Transaction Failure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Using Machine Learning on Synthetic </a:t>
            </a: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Priyam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US" sz="2000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Aggarwal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2210992098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/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Dr. Ajay Kumar</a:t>
            </a:r>
          </a:p>
          <a:p>
            <a:pPr algn="ctr"/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Associate Professor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UPI </a:t>
            </a: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is India's leading real-time payment system, handling billions of transactions monthly.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Despite its scale, transaction failures still occur due to bank server overload, network instability, and peak-hour congestion.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Existing systems only detect failures after they happen </a:t>
            </a: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no </a:t>
            </a: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proactive prediction exists.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This research proposes a machine learning approach to predict UPI transaction failures before execution.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 synthetic </a:t>
            </a:r>
            <a:r>
              <a:rPr lang="en-US" sz="2000" dirty="0" err="1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Kaggle</a:t>
            </a: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dataset is used to simulate real-world scenarios while maintaining data privacy.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Models used: Random Forest and </a:t>
            </a:r>
            <a:r>
              <a:rPr lang="en-US" sz="2000" dirty="0" err="1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XGBoost</a:t>
            </a: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both well-suited for structured financial data classification</a:t>
            </a: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.</a:t>
            </a: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BC8F16-C413-048C-0C89-CBA5F19ED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238AB70F-7377-1C85-DE40-CD0AA4917464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05F6E4EB-1A38-DAF2-70F5-77A7636DD9B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C5B5293F-7CBB-00D6-AF2C-D6532766F389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UPI </a:t>
            </a: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transaction failures degrade user experience and lead to repeated attempts, increasing system load.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Failures occur due to bank server downtime, poor network conditions, and high concurrent transaction volumes.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No proactive mechanism exists to warn users before a likely-to-fail transaction is submitted.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Real banking data is sensitive and unavailable </a:t>
            </a: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making it difficult to train predictive models on actual data.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Most existing ML research in payments focuses on fraud detection, not reliability or failure prediction.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There is a gap: failure patterns in transaction metadata have not been systematically modeled for prediction.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47126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637BBFA-A289-E3AE-EFD5-640D2A6C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9E35A3E1-9964-9041-C73D-E7374414DAB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3B35E8EB-23B0-A31F-FA1C-A61D8142D9F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3D29E8E7-8308-4F31-CA8D-66D0545DC36A}"/>
              </a:ext>
            </a:extLst>
          </p:cNvPr>
          <p:cNvSpPr txBox="1"/>
          <p:nvPr/>
        </p:nvSpPr>
        <p:spPr>
          <a:xfrm>
            <a:off x="164008" y="1109742"/>
            <a:ext cx="5045945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 </a:t>
            </a:r>
            <a:r>
              <a:rPr lang="en-US" sz="19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machine learning-based predictive layer integrated alongside existing UPI systems.</a:t>
            </a:r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Uses a synthetic dataset (</a:t>
            </a:r>
            <a:r>
              <a:rPr lang="en-US" sz="1900" dirty="0" err="1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Kaggle</a:t>
            </a:r>
            <a:r>
              <a:rPr lang="en-US" sz="19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) to train classifiers </a:t>
            </a:r>
            <a:r>
              <a:rPr lang="en-US" sz="19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9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ensuring privacy and ethical compliance.</a:t>
            </a:r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Extracts features: transaction hour, day of week, sender bank, receiver bank, and amount.</a:t>
            </a:r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Two models trained and compared: Random Forest and </a:t>
            </a:r>
            <a:r>
              <a:rPr lang="en-US" sz="1900" dirty="0" err="1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XGBoost</a:t>
            </a:r>
            <a:r>
              <a:rPr lang="en-US" sz="19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.</a:t>
            </a:r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Prediction output: SUCCESS / FAILURE likelihood before the user submits the transaction.</a:t>
            </a:r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Acts as a decision support tool </a:t>
            </a:r>
            <a:r>
              <a:rPr lang="en-US" sz="19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9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does not replace the actual transaction engine.</a:t>
            </a:r>
            <a:endParaRPr lang="en-US" sz="19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6"/>
          <p:cNvSpPr/>
          <p:nvPr/>
        </p:nvSpPr>
        <p:spPr>
          <a:xfrm>
            <a:off x="5656521" y="1723537"/>
            <a:ext cx="2834640" cy="100584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7"/>
          <p:cNvSpPr/>
          <p:nvPr/>
        </p:nvSpPr>
        <p:spPr>
          <a:xfrm>
            <a:off x="5656521" y="1796689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9" name="Text 8"/>
          <p:cNvSpPr/>
          <p:nvPr/>
        </p:nvSpPr>
        <p:spPr>
          <a:xfrm>
            <a:off x="5656521" y="2226457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Ensemble, robust to overfitting</a:t>
            </a:r>
            <a:endParaRPr lang="en-US" sz="1100" dirty="0"/>
          </a:p>
        </p:txBody>
      </p:sp>
      <p:sp>
        <p:nvSpPr>
          <p:cNvPr id="10" name="Shape 9"/>
          <p:cNvSpPr/>
          <p:nvPr/>
        </p:nvSpPr>
        <p:spPr>
          <a:xfrm>
            <a:off x="5656521" y="2912257"/>
            <a:ext cx="2834640" cy="100584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10"/>
          <p:cNvSpPr/>
          <p:nvPr/>
        </p:nvSpPr>
        <p:spPr>
          <a:xfrm>
            <a:off x="5656521" y="2985409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12" name="Text 11"/>
          <p:cNvSpPr/>
          <p:nvPr/>
        </p:nvSpPr>
        <p:spPr>
          <a:xfrm>
            <a:off x="5656521" y="3415177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high accuracy</a:t>
            </a:r>
            <a:endParaRPr lang="en-US" sz="1100" dirty="0"/>
          </a:p>
        </p:txBody>
      </p:sp>
      <p:sp>
        <p:nvSpPr>
          <p:cNvPr id="13" name="Shape 12"/>
          <p:cNvSpPr/>
          <p:nvPr/>
        </p:nvSpPr>
        <p:spPr>
          <a:xfrm>
            <a:off x="5656521" y="4100977"/>
            <a:ext cx="2834640" cy="100584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3"/>
          <p:cNvSpPr/>
          <p:nvPr/>
        </p:nvSpPr>
        <p:spPr>
          <a:xfrm>
            <a:off x="5656521" y="4174129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400" dirty="0"/>
          </a:p>
        </p:txBody>
      </p:sp>
      <p:sp>
        <p:nvSpPr>
          <p:cNvPr id="15" name="Text 14"/>
          <p:cNvSpPr/>
          <p:nvPr/>
        </p:nvSpPr>
        <p:spPr>
          <a:xfrm>
            <a:off x="5656521" y="4603897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Privacy-preserving, Kaggle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xmlns="" val="4209352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3A4FCF4-8A4F-C9B6-04F9-E51F2F05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4E1E8EC6-9DC9-F516-DB43-798275907BD0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CA4606E5-3F9A-E5EF-B18B-9E64E00EFE7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2FB2AA52-6F73-3133-E4C2-4423388AF7A8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8732520" y="556880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22" name="Shape 5"/>
          <p:cNvSpPr/>
          <p:nvPr/>
        </p:nvSpPr>
        <p:spPr>
          <a:xfrm>
            <a:off x="274320" y="1659742"/>
            <a:ext cx="1508760" cy="201168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3" name="Shape 6"/>
          <p:cNvSpPr/>
          <p:nvPr/>
        </p:nvSpPr>
        <p:spPr>
          <a:xfrm>
            <a:off x="777240" y="154087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24" name="Text 7"/>
          <p:cNvSpPr/>
          <p:nvPr/>
        </p:nvSpPr>
        <p:spPr>
          <a:xfrm>
            <a:off x="777240" y="15408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300"/>
                </a:solidFill>
              </a:rPr>
              <a:t>1</a:t>
            </a:r>
            <a:endParaRPr lang="en-US" sz="1400" dirty="0"/>
          </a:p>
        </p:txBody>
      </p:sp>
      <p:sp>
        <p:nvSpPr>
          <p:cNvPr id="225" name="Text 8"/>
          <p:cNvSpPr/>
          <p:nvPr/>
        </p:nvSpPr>
        <p:spPr>
          <a:xfrm>
            <a:off x="274320" y="207122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226" name="Text 9"/>
          <p:cNvSpPr/>
          <p:nvPr/>
        </p:nvSpPr>
        <p:spPr>
          <a:xfrm>
            <a:off x="274320" y="2757022"/>
            <a:ext cx="1508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CSV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(Kaggle)</a:t>
            </a:r>
            <a:endParaRPr lang="en-US" sz="1000" dirty="0"/>
          </a:p>
        </p:txBody>
      </p:sp>
      <p:sp>
        <p:nvSpPr>
          <p:cNvPr id="227" name="Shape 10"/>
          <p:cNvSpPr/>
          <p:nvPr/>
        </p:nvSpPr>
        <p:spPr>
          <a:xfrm>
            <a:off x="1783080" y="2546710"/>
            <a:ext cx="2286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8" name="Shape 11"/>
          <p:cNvSpPr/>
          <p:nvPr/>
        </p:nvSpPr>
        <p:spPr>
          <a:xfrm>
            <a:off x="2011680" y="1659742"/>
            <a:ext cx="1508760" cy="20116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9" name="Shape 12"/>
          <p:cNvSpPr/>
          <p:nvPr/>
        </p:nvSpPr>
        <p:spPr>
          <a:xfrm>
            <a:off x="2514600" y="154087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30" name="Text 13"/>
          <p:cNvSpPr/>
          <p:nvPr/>
        </p:nvSpPr>
        <p:spPr>
          <a:xfrm>
            <a:off x="2514600" y="15408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300"/>
                </a:solidFill>
              </a:rPr>
              <a:t>2</a:t>
            </a:r>
            <a:endParaRPr lang="en-US" sz="1400" dirty="0"/>
          </a:p>
        </p:txBody>
      </p:sp>
      <p:sp>
        <p:nvSpPr>
          <p:cNvPr id="231" name="Text 14"/>
          <p:cNvSpPr/>
          <p:nvPr/>
        </p:nvSpPr>
        <p:spPr>
          <a:xfrm>
            <a:off x="2011680" y="207122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232" name="Text 15"/>
          <p:cNvSpPr/>
          <p:nvPr/>
        </p:nvSpPr>
        <p:spPr>
          <a:xfrm>
            <a:off x="2011680" y="2757022"/>
            <a:ext cx="1508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Timestamps, null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handling, encoding</a:t>
            </a:r>
            <a:endParaRPr lang="en-US" sz="1000" dirty="0"/>
          </a:p>
        </p:txBody>
      </p:sp>
      <p:sp>
        <p:nvSpPr>
          <p:cNvPr id="233" name="Shape 16"/>
          <p:cNvSpPr/>
          <p:nvPr/>
        </p:nvSpPr>
        <p:spPr>
          <a:xfrm>
            <a:off x="3520440" y="2546710"/>
            <a:ext cx="2286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34" name="Shape 17"/>
          <p:cNvSpPr/>
          <p:nvPr/>
        </p:nvSpPr>
        <p:spPr>
          <a:xfrm>
            <a:off x="3749040" y="1659742"/>
            <a:ext cx="1508760" cy="201168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5" name="Shape 18"/>
          <p:cNvSpPr/>
          <p:nvPr/>
        </p:nvSpPr>
        <p:spPr>
          <a:xfrm>
            <a:off x="4251960" y="154087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36" name="Text 19"/>
          <p:cNvSpPr/>
          <p:nvPr/>
        </p:nvSpPr>
        <p:spPr>
          <a:xfrm>
            <a:off x="4251960" y="15408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300"/>
                </a:solidFill>
              </a:rPr>
              <a:t>3</a:t>
            </a:r>
            <a:endParaRPr lang="en-US" sz="1400" dirty="0"/>
          </a:p>
        </p:txBody>
      </p:sp>
      <p:sp>
        <p:nvSpPr>
          <p:cNvPr id="237" name="Text 20"/>
          <p:cNvSpPr/>
          <p:nvPr/>
        </p:nvSpPr>
        <p:spPr>
          <a:xfrm>
            <a:off x="3749040" y="207122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238" name="Text 21"/>
          <p:cNvSpPr/>
          <p:nvPr/>
        </p:nvSpPr>
        <p:spPr>
          <a:xfrm>
            <a:off x="3749040" y="2757022"/>
            <a:ext cx="1508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Day, Banks,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239" name="Shape 22"/>
          <p:cNvSpPr/>
          <p:nvPr/>
        </p:nvSpPr>
        <p:spPr>
          <a:xfrm>
            <a:off x="5257800" y="2546710"/>
            <a:ext cx="2286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0" name="Shape 23"/>
          <p:cNvSpPr/>
          <p:nvPr/>
        </p:nvSpPr>
        <p:spPr>
          <a:xfrm>
            <a:off x="5486400" y="1659742"/>
            <a:ext cx="1508760" cy="20116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1" name="Shape 24"/>
          <p:cNvSpPr/>
          <p:nvPr/>
        </p:nvSpPr>
        <p:spPr>
          <a:xfrm>
            <a:off x="5989320" y="154087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42" name="Text 25"/>
          <p:cNvSpPr/>
          <p:nvPr/>
        </p:nvSpPr>
        <p:spPr>
          <a:xfrm>
            <a:off x="5989320" y="15408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300"/>
                </a:solidFill>
              </a:rPr>
              <a:t>4</a:t>
            </a:r>
            <a:endParaRPr lang="en-US" sz="1400" dirty="0"/>
          </a:p>
        </p:txBody>
      </p:sp>
      <p:sp>
        <p:nvSpPr>
          <p:cNvPr id="243" name="Text 26"/>
          <p:cNvSpPr/>
          <p:nvPr/>
        </p:nvSpPr>
        <p:spPr>
          <a:xfrm>
            <a:off x="5486400" y="207122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44" name="Text 27"/>
          <p:cNvSpPr/>
          <p:nvPr/>
        </p:nvSpPr>
        <p:spPr>
          <a:xfrm>
            <a:off x="5486400" y="2757022"/>
            <a:ext cx="1508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&amp; XGBoost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</a:t>
            </a:r>
            <a:endParaRPr lang="en-US" sz="1000" dirty="0"/>
          </a:p>
        </p:txBody>
      </p:sp>
      <p:sp>
        <p:nvSpPr>
          <p:cNvPr id="245" name="Shape 28"/>
          <p:cNvSpPr/>
          <p:nvPr/>
        </p:nvSpPr>
        <p:spPr>
          <a:xfrm>
            <a:off x="6995160" y="2546710"/>
            <a:ext cx="2286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6" name="Shape 29"/>
          <p:cNvSpPr/>
          <p:nvPr/>
        </p:nvSpPr>
        <p:spPr>
          <a:xfrm>
            <a:off x="7223760" y="1659742"/>
            <a:ext cx="1508760" cy="201168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7" name="Shape 30"/>
          <p:cNvSpPr/>
          <p:nvPr/>
        </p:nvSpPr>
        <p:spPr>
          <a:xfrm>
            <a:off x="7726680" y="154087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48" name="Text 31"/>
          <p:cNvSpPr/>
          <p:nvPr/>
        </p:nvSpPr>
        <p:spPr>
          <a:xfrm>
            <a:off x="7726680" y="15408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300"/>
                </a:solidFill>
              </a:rPr>
              <a:t>5</a:t>
            </a:r>
            <a:endParaRPr lang="en-US" sz="1400" dirty="0"/>
          </a:p>
        </p:txBody>
      </p:sp>
      <p:sp>
        <p:nvSpPr>
          <p:cNvPr id="249" name="Text 32"/>
          <p:cNvSpPr/>
          <p:nvPr/>
        </p:nvSpPr>
        <p:spPr>
          <a:xfrm>
            <a:off x="7223760" y="207122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Predict</a:t>
            </a:r>
            <a:endParaRPr lang="en-US" sz="1300" dirty="0"/>
          </a:p>
        </p:txBody>
      </p:sp>
      <p:sp>
        <p:nvSpPr>
          <p:cNvPr id="250" name="Text 33"/>
          <p:cNvSpPr/>
          <p:nvPr/>
        </p:nvSpPr>
        <p:spPr>
          <a:xfrm>
            <a:off x="7223760" y="2757022"/>
            <a:ext cx="1508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251" name="Text 34"/>
          <p:cNvSpPr/>
          <p:nvPr/>
        </p:nvSpPr>
        <p:spPr>
          <a:xfrm>
            <a:off x="365760" y="394574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Used:</a:t>
            </a:r>
            <a:endParaRPr lang="en-US" sz="1300" dirty="0"/>
          </a:p>
        </p:txBody>
      </p:sp>
      <p:graphicFrame>
        <p:nvGraphicFramePr>
          <p:cNvPr id="2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365760" y="4284070"/>
          <a:ext cx="8412480" cy="118872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645920"/>
                <a:gridCol w="1645920"/>
                <a:gridCol w="1645920"/>
                <a:gridCol w="91440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correctness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+ve predictions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actual failures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Precision–Recall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142924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FDBD8E6-34B5-334F-A360-C4303E2BF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61CDF8DD-CA88-C0CD-9836-47DF523EA49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7450976A-99FD-B785-8EE3-3DD5D531240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373380" y="1763268"/>
            <a:ext cx="4114800" cy="74980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6"/>
          <p:cNvSpPr/>
          <p:nvPr/>
        </p:nvSpPr>
        <p:spPr>
          <a:xfrm>
            <a:off x="373380" y="17907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400" dirty="0"/>
          </a:p>
        </p:txBody>
      </p:sp>
      <p:sp>
        <p:nvSpPr>
          <p:cNvPr id="29" name="Text 7"/>
          <p:cNvSpPr/>
          <p:nvPr/>
        </p:nvSpPr>
        <p:spPr>
          <a:xfrm>
            <a:off x="373380" y="215646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— Synthetic Kaggle Dataset</a:t>
            </a:r>
            <a:endParaRPr lang="en-US" sz="1100" dirty="0"/>
          </a:p>
        </p:txBody>
      </p:sp>
      <p:sp>
        <p:nvSpPr>
          <p:cNvPr id="30" name="Shape 8"/>
          <p:cNvSpPr/>
          <p:nvPr/>
        </p:nvSpPr>
        <p:spPr>
          <a:xfrm>
            <a:off x="2293620" y="2513076"/>
            <a:ext cx="54864" cy="21031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1" name="Shape 9"/>
          <p:cNvSpPr/>
          <p:nvPr/>
        </p:nvSpPr>
        <p:spPr>
          <a:xfrm>
            <a:off x="373380" y="2723388"/>
            <a:ext cx="4114800" cy="7498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10"/>
          <p:cNvSpPr/>
          <p:nvPr/>
        </p:nvSpPr>
        <p:spPr>
          <a:xfrm>
            <a:off x="373380" y="27508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400" dirty="0"/>
          </a:p>
        </p:txBody>
      </p:sp>
      <p:sp>
        <p:nvSpPr>
          <p:cNvPr id="33" name="Text 11"/>
          <p:cNvSpPr/>
          <p:nvPr/>
        </p:nvSpPr>
        <p:spPr>
          <a:xfrm>
            <a:off x="373380" y="311658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· Feature Engineering · EDA</a:t>
            </a:r>
            <a:endParaRPr lang="en-US" sz="1100" dirty="0"/>
          </a:p>
        </p:txBody>
      </p:sp>
      <p:sp>
        <p:nvSpPr>
          <p:cNvPr id="34" name="Shape 12"/>
          <p:cNvSpPr/>
          <p:nvPr/>
        </p:nvSpPr>
        <p:spPr>
          <a:xfrm>
            <a:off x="2293620" y="3473196"/>
            <a:ext cx="54864" cy="21031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5" name="Shape 13"/>
          <p:cNvSpPr/>
          <p:nvPr/>
        </p:nvSpPr>
        <p:spPr>
          <a:xfrm>
            <a:off x="373380" y="3683508"/>
            <a:ext cx="4114800" cy="74980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Text 14"/>
          <p:cNvSpPr/>
          <p:nvPr/>
        </p:nvSpPr>
        <p:spPr>
          <a:xfrm>
            <a:off x="373380" y="37109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37" name="Text 15"/>
          <p:cNvSpPr/>
          <p:nvPr/>
        </p:nvSpPr>
        <p:spPr>
          <a:xfrm>
            <a:off x="373380" y="407670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·  XGBoost</a:t>
            </a:r>
            <a:endParaRPr lang="en-US" sz="1100" dirty="0"/>
          </a:p>
        </p:txBody>
      </p:sp>
      <p:sp>
        <p:nvSpPr>
          <p:cNvPr id="38" name="Shape 16"/>
          <p:cNvSpPr/>
          <p:nvPr/>
        </p:nvSpPr>
        <p:spPr>
          <a:xfrm>
            <a:off x="2293620" y="4433316"/>
            <a:ext cx="54864" cy="21031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9" name="Shape 17"/>
          <p:cNvSpPr/>
          <p:nvPr/>
        </p:nvSpPr>
        <p:spPr>
          <a:xfrm>
            <a:off x="373380" y="4643628"/>
            <a:ext cx="4114800" cy="7498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Text 18"/>
          <p:cNvSpPr/>
          <p:nvPr/>
        </p:nvSpPr>
        <p:spPr>
          <a:xfrm>
            <a:off x="373380" y="46710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Output</a:t>
            </a:r>
            <a:endParaRPr lang="en-US" sz="1400" dirty="0"/>
          </a:p>
        </p:txBody>
      </p:sp>
      <p:sp>
        <p:nvSpPr>
          <p:cNvPr id="41" name="Text 19"/>
          <p:cNvSpPr/>
          <p:nvPr/>
        </p:nvSpPr>
        <p:spPr>
          <a:xfrm>
            <a:off x="373380" y="50368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Prediction · Plots</a:t>
            </a:r>
            <a:endParaRPr lang="en-US" sz="1100" dirty="0"/>
          </a:p>
        </p:txBody>
      </p:sp>
      <p:sp>
        <p:nvSpPr>
          <p:cNvPr id="42" name="Text 20"/>
          <p:cNvSpPr/>
          <p:nvPr/>
        </p:nvSpPr>
        <p:spPr>
          <a:xfrm>
            <a:off x="4945380" y="17632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</a:t>
            </a:r>
            <a:endParaRPr lang="en-US" sz="1400" dirty="0"/>
          </a:p>
        </p:txBody>
      </p:sp>
      <p:sp>
        <p:nvSpPr>
          <p:cNvPr id="43" name="Text 21"/>
          <p:cNvSpPr/>
          <p:nvPr/>
        </p:nvSpPr>
        <p:spPr>
          <a:xfrm>
            <a:off x="4945380" y="2156460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Predictive layer </a:t>
            </a:r>
            <a:r>
              <a:rPr lang="en-US" sz="13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300" dirty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works alongside existing UPI systems, not as a replacement.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Pattern learning from historical synthetic transactions.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Pre-execution failure probability scoring.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Decision support output: SUCCESS / FAILURE likelihood.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Modular architecture </a:t>
            </a:r>
            <a:r>
              <a:rPr lang="en-US" sz="13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each </a:t>
            </a:r>
            <a:r>
              <a:rPr lang="en-US" sz="1300" dirty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layer is independently testable.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734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C897CF7-8B76-B893-20BA-8B5957A9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5A04A6F1-BECD-7DBB-01EA-76499F196189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Fututre Scope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330577CF-5172-96AF-49E0-DC7929789FB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23636E69-F063-AE3A-1DEA-E32C3B112D00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Integrate real-time bank server &amp; network data for higher accuracy.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Deploy in live UPI apps for pre-transaction failure warnings.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Explore deep learning (LSTM, Transformers) for temporal patterns.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Add Explainable AI (XAI) to clarify why transactions may fail.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Build a smart payment assistant suggesting retry or bank switch</a:t>
            </a: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.</a:t>
            </a:r>
            <a:endParaRPr lang="en-US" sz="19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99185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DBDB155-772B-4ED5-E09E-642313E7C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A56CA528-AA34-5E35-F767-5BE56520E49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4B20AC48-BF11-B2B7-F626-4A2C62D6E66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68BD3D36-5786-E190-6B28-2D20860920B7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ML can proactively predict UPI failures using transaction metadata.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Transaction hour, day, amount, and bank IDs are strong predictors.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Both Random Forest and </a:t>
            </a:r>
            <a:r>
              <a:rPr lang="en-US" sz="2000" dirty="0" err="1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XGBoost</a:t>
            </a: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achieved satisfactory performance.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Synthetic data enables privacy-compliant model development.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System acts as a decision-support layer improving user experience</a:t>
            </a:r>
            <a:r>
              <a:rPr lang="en-US" sz="2000" dirty="0" smtClean="0">
                <a:solidFill>
                  <a:srgbClr val="3333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.</a:t>
            </a:r>
            <a:endParaRPr lang="en-US" sz="19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68670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DE5AB75-27D9-8CBF-5AF6-D3E97605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D45F946C-454D-5CE9-A017-A4E0F1901547}"/>
              </a:ext>
            </a:extLst>
          </p:cNvPr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4FB7A5AA-1319-22F4-18EE-FE3100DEB0F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13192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34729</TotalTime>
  <Words>607</Words>
  <Application>Microsoft Office PowerPoint</Application>
  <PresentationFormat>On-screen Show (4:3)</PresentationFormat>
  <Paragraphs>157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CCC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DELL</cp:lastModifiedBy>
  <cp:revision>2304</cp:revision>
  <dcterms:created xsi:type="dcterms:W3CDTF">2010-04-09T07:36:15Z</dcterms:created>
  <dcterms:modified xsi:type="dcterms:W3CDTF">2026-05-18T03:35:30Z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